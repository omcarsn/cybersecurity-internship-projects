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0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CYBERSECURITY RISK ASSESSMENT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9688"/>
                </a:solidFill>
                <a:latin typeface="Calibri"/>
              </a:rPr>
              <a:t>FOR SMALL AND MEDIUM ENTERPRISES (SMEs)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91840"/>
            <a:ext cx="73152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4C8DC"/>
                </a:solidFill>
                <a:latin typeface="Calibri"/>
              </a:rPr>
              <a:t>Minor Project - 1  |  Naviotech Solution Pvt.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4C8DC"/>
                </a:solidFill>
                <a:latin typeface="Calibri"/>
              </a:rPr>
              <a:t>Submission: 15th March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6035040"/>
            <a:ext cx="256032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20" y="6080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CYBERSECURITY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548640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5544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48640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08760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5544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Common SME Cybersecurity Threats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6888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468880"/>
            <a:ext cx="548640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697480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7432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Risk Assessment Model (NIST CSF)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46888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468880"/>
            <a:ext cx="548640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697480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7432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Risk Evaluation Metric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657600"/>
            <a:ext cx="548640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886200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931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Mitigation Strategies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65760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657600"/>
            <a:ext cx="548640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886200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931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Case Studies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46320"/>
            <a:ext cx="53949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846320"/>
            <a:ext cx="548640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5074920"/>
            <a:ext cx="512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1206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151"/>
                </a:solidFill>
                <a:latin typeface="Calibri"/>
              </a:rPr>
              <a:t>Best Practices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2651760" cy="16459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265176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9688"/>
                </a:solidFill>
                <a:latin typeface="Calibri"/>
              </a:rPr>
              <a:t>43%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of all cyberattacks
target SMEs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188720"/>
            <a:ext cx="2651760" cy="16459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188720"/>
            <a:ext cx="265176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325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9688"/>
                </a:solidFill>
                <a:latin typeface="Calibri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94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of SMEs close within
6 months of a breach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188720"/>
            <a:ext cx="2651760" cy="16459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188720"/>
            <a:ext cx="265176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325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9688"/>
                </a:solidFill>
                <a:latin typeface="Calibri"/>
              </a:rPr>
              <a:t>$1M+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2194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average total cost
of an SME breach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19" y="1188720"/>
            <a:ext cx="2651760" cy="16459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19" y="1188720"/>
            <a:ext cx="265176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325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9688"/>
                </a:solidFill>
                <a:latin typeface="Calibri"/>
              </a:rPr>
              <a:t>300%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1945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increase in attacks
since 2020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063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1F54"/>
                </a:solidFill>
                <a:latin typeface="Calibri"/>
              </a:rPr>
              <a:t>Why This Framework?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66160"/>
            <a:ext cx="32004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61187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SMEs lack dedicated cybersecurity staff and operate on tight IT budgets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160520"/>
            <a:ext cx="32004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206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No structured process to identify, assess, and prioritize cyber risks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754880"/>
            <a:ext cx="32004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800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Attackers actively target SMEs as lower-risk, high-reward targets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49240"/>
            <a:ext cx="32004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39495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151"/>
                </a:solidFill>
                <a:latin typeface="Calibri"/>
              </a:rPr>
              <a:t>Regulatory compliance requirements (GDPR, HIPAA, PCI-DSS) are increasing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COMMON CYBERSECURITY THREATS IN SMEs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566160" cy="5029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618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🎣  PHISHING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Most prevalent attack vector
Targets credentials via fake emails
36% of all breaches start with phishing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88720"/>
            <a:ext cx="3566160" cy="5029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2618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🔒  RANSOMWARE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Encrypts business data for ransom
Double-extortion tactics common
Avg. demand: $50K–$300K for SMEs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566160" cy="5029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618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👤  INSIDER THREAT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78308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Malicious or accidental data exposure
Former employees retaining access
Often undetected for 6+ 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3566160" cy="5029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221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🔗  SUPPLY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343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Compromise through trusted vendors
MSP attacks affect multiple clients
Difficult to detect and prevent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749039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749039"/>
            <a:ext cx="3566160" cy="5029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38221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🛡️  UNPATCHED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343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End-of-life OS with known CVEs
Delayed patching = exploitable gaps
Automated scanners find them fast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749039"/>
            <a:ext cx="35661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749039"/>
            <a:ext cx="3566160" cy="5029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8221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🔑  WEAK 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34340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Password reuse and no MFA
Credential stuffing attacks
81% of breaches use stolen credentials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RISK ASSESSMENT MODEL — NIST CSF 2.0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1737360" cy="1737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GOVERN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280160"/>
            <a:ext cx="1737360" cy="1737360"/>
          </a:xfrm>
          <a:prstGeom prst="rect">
            <a:avLst/>
          </a:prstGeom>
          <a:solidFill>
            <a:srgbClr val="1E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6459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IDENTIFY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280160"/>
            <a:ext cx="1737360" cy="1737360"/>
          </a:xfrm>
          <a:prstGeom prst="rect">
            <a:avLst/>
          </a:prstGeom>
          <a:solidFill>
            <a:srgbClr val="149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459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PROTECT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80160"/>
            <a:ext cx="1737360" cy="1737360"/>
          </a:xfrm>
          <a:prstGeom prst="rect">
            <a:avLst/>
          </a:prstGeom>
          <a:solidFill>
            <a:srgbClr val="B4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280160"/>
            <a:ext cx="1737360" cy="1737360"/>
          </a:xfrm>
          <a:prstGeom prst="rect">
            <a:avLst/>
          </a:prstGeom>
          <a:solidFill>
            <a:srgbClr val="B4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RESPOND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1280160"/>
            <a:ext cx="1737360" cy="1737360"/>
          </a:xfrm>
          <a:prstGeom prst="rect">
            <a:avLst/>
          </a:prstGeom>
          <a:solidFill>
            <a:srgbClr val="64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1645919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1F54"/>
                </a:solidFill>
                <a:latin typeface="Calibri"/>
              </a:rPr>
              <a:t>4-Step Assessment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2606040" cy="265176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49039"/>
            <a:ext cx="26060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803903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19" y="4343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Asset
Identification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" y="51206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C8DC"/>
                </a:solidFill>
                <a:latin typeface="Calibri"/>
              </a:rPr>
              <a:t>Catalogue all hardware,
software &amp;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75487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9688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39" y="3749039"/>
            <a:ext cx="2606040" cy="265176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20439" y="3749039"/>
            <a:ext cx="26060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39" y="3803903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79" y="4343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Threat
Identification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79" y="51206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C8DC"/>
                </a:solidFill>
                <a:latin typeface="Calibri"/>
              </a:rPr>
              <a:t>Map threats to
each asset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75487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9688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749039"/>
            <a:ext cx="2606040" cy="265176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749039"/>
            <a:ext cx="26060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803903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343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Vulnerability
Assessment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1206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C8DC"/>
                </a:solidFill>
                <a:latin typeface="Calibri"/>
              </a:rPr>
              <a:t>Find weaknesses
in 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754879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9688"/>
                </a:solidFill>
                <a:latin typeface="Calibri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59" y="3749039"/>
            <a:ext cx="2606040" cy="265176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1159" y="3749039"/>
            <a:ext cx="26060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59" y="3803903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599" y="434340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Risk
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599" y="512064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4C8DC"/>
                </a:solidFill>
                <a:latin typeface="Calibri"/>
              </a:rPr>
              <a:t>Score &amp; prioritize
using metric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RISK EVALUATION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097280"/>
            <a:ext cx="9144000" cy="118872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2344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88"/>
                </a:solidFill>
                <a:latin typeface="Calibri"/>
              </a:rPr>
              <a:t>Risk Score  =  Likelihood (1–5)  ×  Impact (1–5)  ×  Exposure Factor (0.1–1.0)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1F54"/>
                </a:solidFill>
                <a:latin typeface="Calibri"/>
              </a:rPr>
              <a:t>Risk Score 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137160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154679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20.0 – 25.0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3017520"/>
            <a:ext cx="1371600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75688" y="3154679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017520"/>
            <a:ext cx="31089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31821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Address within 24–48 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59"/>
            <a:ext cx="1371600" cy="6583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931920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15.0 – 19.9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57400" y="3794759"/>
            <a:ext cx="1371600" cy="6583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75688" y="3931920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3794759"/>
            <a:ext cx="31089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959351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Remediate within 1–2 weeks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72000"/>
            <a:ext cx="1371600" cy="65836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709160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8.0 – 14.9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4572000"/>
            <a:ext cx="1371600" cy="65836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75688" y="4709160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0" y="4572000"/>
            <a:ext cx="31089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47365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Schedule within 30–60 days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349240"/>
            <a:ext cx="1371600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486400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0.1 – 7.9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57400" y="5349240"/>
            <a:ext cx="1371600" cy="6583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75688" y="5486400"/>
            <a:ext cx="13350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5349240"/>
            <a:ext cx="310896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5513831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Next maintenance 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2514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1F54"/>
                </a:solidFill>
                <a:latin typeface="Calibri"/>
              </a:rPr>
              <a:t>Threat Priority Ranking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3090672"/>
            <a:ext cx="4114800" cy="43891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0" y="3090672"/>
            <a:ext cx="370332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0175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Phishing / BEC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3108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22.5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3685031"/>
            <a:ext cx="4114800" cy="43891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0" y="3685031"/>
            <a:ext cx="2962656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611879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Ransomware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3703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  <a:latin typeface="Calibri"/>
              </a:rPr>
              <a:t>18.0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4279392"/>
            <a:ext cx="4114800" cy="43891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0" y="4279392"/>
            <a:ext cx="1843430" cy="43891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4206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Weak Auth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64240" y="429767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8A04"/>
                </a:solidFill>
                <a:latin typeface="Calibri"/>
              </a:rPr>
              <a:t>11.2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0" y="4873752"/>
            <a:ext cx="4114800" cy="43891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0" y="4873752"/>
            <a:ext cx="2106777" cy="43891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4800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Unpatched SW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4892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8A04"/>
                </a:solidFill>
                <a:latin typeface="Calibri"/>
              </a:rPr>
              <a:t>12.8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58000" y="5468112"/>
            <a:ext cx="4114800" cy="43891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58000" y="5468112"/>
            <a:ext cx="1382572" cy="438912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0" y="5394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Insider Threat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54864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A8A04"/>
                </a:solidFill>
                <a:latin typeface="Calibri"/>
              </a:rPr>
              <a:t>8.4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0" y="6062472"/>
            <a:ext cx="4114800" cy="438912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58000" y="6062472"/>
            <a:ext cx="987552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5989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Supply Chain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64240" y="608075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  <a:latin typeface="Calibri"/>
              </a:rPr>
              <a:t>6.0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RISK MITIGATION STRATEGIES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36118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361188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TECHNICAL CONTROLS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201168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5623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Multi-Factor Authentication (MFA)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201168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6946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Next-Gen Firewall (NGFW)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255264"/>
            <a:ext cx="201168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8269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Endpoint Detection &amp; Response (EDR)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968496"/>
            <a:ext cx="201168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959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Email Security Gateway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681728"/>
            <a:ext cx="201168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Patch Management (monthly cadence)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394960"/>
            <a:ext cx="201168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42239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Data Encryption (at rest &amp; in transit)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1143000"/>
            <a:ext cx="36118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1143000"/>
            <a:ext cx="3611880" cy="548640"/>
          </a:xfrm>
          <a:prstGeom prst="rect">
            <a:avLst/>
          </a:prstGeom>
          <a:solidFill>
            <a:srgbClr val="1E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11887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ADMINISTRATIVE CONTROLS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1828800"/>
            <a:ext cx="201168" cy="320040"/>
          </a:xfrm>
          <a:prstGeom prst="rect">
            <a:avLst/>
          </a:prstGeom>
          <a:solidFill>
            <a:srgbClr val="1E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85623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Security Awareness Training (quarterly)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2542032"/>
            <a:ext cx="201168" cy="320040"/>
          </a:xfrm>
          <a:prstGeom prst="rect">
            <a:avLst/>
          </a:prstGeom>
          <a:solidFill>
            <a:srgbClr val="1E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56946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Incident Response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3255264"/>
            <a:ext cx="201168" cy="320040"/>
          </a:xfrm>
          <a:prstGeom prst="rect">
            <a:avLst/>
          </a:prstGeom>
          <a:solidFill>
            <a:srgbClr val="1E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328269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Access Control &amp; Least Privilege Policy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3968496"/>
            <a:ext cx="201168" cy="320040"/>
          </a:xfrm>
          <a:prstGeom prst="rect">
            <a:avLst/>
          </a:prstGeom>
          <a:solidFill>
            <a:srgbClr val="1E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39959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Vendor Risk Management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4681728"/>
            <a:ext cx="201168" cy="320040"/>
          </a:xfrm>
          <a:prstGeom prst="rect">
            <a:avLst/>
          </a:prstGeom>
          <a:solidFill>
            <a:srgbClr val="1E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47091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Acceptable Use Policy (AUP)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1143000"/>
            <a:ext cx="36118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1143000"/>
            <a:ext cx="3611880" cy="548640"/>
          </a:xfrm>
          <a:prstGeom prst="rect">
            <a:avLst/>
          </a:prstGeom>
          <a:solidFill>
            <a:srgbClr val="64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11887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PHYSICAL CONTROLS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1828800"/>
            <a:ext cx="201168" cy="320040"/>
          </a:xfrm>
          <a:prstGeom prst="rect">
            <a:avLst/>
          </a:prstGeom>
          <a:solidFill>
            <a:srgbClr val="64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185623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Locked server rooms &amp; equipment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2542032"/>
            <a:ext cx="201168" cy="320040"/>
          </a:xfrm>
          <a:prstGeom prst="rect">
            <a:avLst/>
          </a:prstGeom>
          <a:solidFill>
            <a:srgbClr val="64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56946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CCTV monitoring in data areas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60" y="3255264"/>
            <a:ext cx="201168" cy="320040"/>
          </a:xfrm>
          <a:prstGeom prst="rect">
            <a:avLst/>
          </a:prstGeom>
          <a:solidFill>
            <a:srgbClr val="64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328269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Clear-desk &amp; screen-lock policies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3968496"/>
            <a:ext cx="201168" cy="320040"/>
          </a:xfrm>
          <a:prstGeom prst="rect">
            <a:avLst/>
          </a:prstGeom>
          <a:solidFill>
            <a:srgbClr val="64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39959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Visitor management procedures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CASE STUDIES — FRAMEWORK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6118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361188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🛒  E-Commerce Retail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C8C8"/>
                </a:solidFill>
                <a:latin typeface="Calibri"/>
              </a:rPr>
              <a:t>25 Employees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Calibri"/>
              </a:rPr>
              <a:t>KEY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377440"/>
            <a:ext cx="3291840" cy="6858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231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Calibri"/>
              </a:rPr>
              <a:t>Critical: Phishing, unencrypted backups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Calibri"/>
              </a:rPr>
              <a:t>MITIGATION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520440"/>
            <a:ext cx="3291840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MFA + Security Training + Encrypted S3 Backups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  <a:latin typeface="Calibri"/>
              </a:rPr>
              <a:t>OUTCOME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846320"/>
            <a:ext cx="3291840" cy="777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920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↓ 78% phishing click rate | PCI-DSS compliant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188720"/>
            <a:ext cx="36118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188720"/>
            <a:ext cx="3611880" cy="640080"/>
          </a:xfrm>
          <a:prstGeom prst="rect">
            <a:avLst/>
          </a:prstGeom>
          <a:solidFill>
            <a:srgbClr val="1E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🏥  Healthcare Clinic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C8C8"/>
                </a:solidFill>
                <a:latin typeface="Calibri"/>
              </a:rPr>
              <a:t>40 Employees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4B4"/>
                </a:solidFill>
                <a:latin typeface="Calibri"/>
              </a:rPr>
              <a:t>KEY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2377440"/>
            <a:ext cx="3291840" cy="6858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24231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Calibri"/>
              </a:rPr>
              <a:t>Critical: Windows 7 EHR, no backup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4B4"/>
                </a:solidFill>
                <a:latin typeface="Calibri"/>
              </a:rPr>
              <a:t>MITIGATION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3520440"/>
            <a:ext cx="3291840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566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Cloud EHR migration + RBAC + Automated backups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4B4"/>
                </a:solidFill>
                <a:latin typeface="Calibri"/>
              </a:rPr>
              <a:t>OUTCOME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4846320"/>
            <a:ext cx="3291840" cy="777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17720" y="48920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RTO: 4 days → 6 hours | HIPAA compliant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188720"/>
            <a:ext cx="361188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1188720"/>
            <a:ext cx="3611880" cy="640080"/>
          </a:xfrm>
          <a:prstGeom prst="rect">
            <a:avLst/>
          </a:prstGeom>
          <a:solidFill>
            <a:srgbClr val="641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12344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📊  Accounting Firm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C8C8"/>
                </a:solidFill>
                <a:latin typeface="Calibri"/>
              </a:rPr>
              <a:t>15 Employees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057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1E8C"/>
                </a:solidFill>
                <a:latin typeface="Calibri"/>
              </a:rPr>
              <a:t>KEY RISK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2377440"/>
            <a:ext cx="3291840" cy="6858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58200" y="24231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Calibri"/>
              </a:rPr>
              <a:t>Critical: BEC risk, RDP exposed to internet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1E8C"/>
                </a:solidFill>
                <a:latin typeface="Calibri"/>
              </a:rPr>
              <a:t>MITIGATION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66760" y="3520440"/>
            <a:ext cx="3291840" cy="86868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356616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Dual-auth transfers + VPN + Secure portal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526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1E8C"/>
                </a:solidFill>
                <a:latin typeface="Calibri"/>
              </a:rPr>
              <a:t>OUTCOME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4846320"/>
            <a:ext cx="3291840" cy="777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48920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Calibri"/>
              </a:rPr>
              <a:t>Zero BEC incidents | RDP attack surface eliminated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BEST PRACTICES FOR SME CYBERSECURITY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02920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80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F54"/>
                </a:solidFill>
                <a:latin typeface="Calibri"/>
              </a:rPr>
              <a:t>Risk-Based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373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Prioritize investments based on risk score — focus on Critical and High risks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79" y="1188720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79" y="1188720"/>
            <a:ext cx="502920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7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280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F54"/>
                </a:solidFill>
                <a:latin typeface="Calibri"/>
              </a:rPr>
              <a:t>Security Culture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373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Regular training, clear policies, management commitment — people are the key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68880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468880"/>
            <a:ext cx="502920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560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F54"/>
                </a:solidFill>
                <a:latin typeface="Calibri"/>
              </a:rPr>
              <a:t>Test Your Defenses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17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Annual pen tests, quarterly backup drills, monthly phishing simulations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79" y="2468880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2468880"/>
            <a:ext cx="502920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7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560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F54"/>
                </a:solidFill>
                <a:latin typeface="Calibri"/>
              </a:rPr>
              <a:t>Plan for Incidents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0175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 practiced IRP reduces breach costs dramatically — assume breach will happen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49039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49039"/>
            <a:ext cx="502920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8404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F54"/>
                </a:solidFill>
                <a:latin typeface="Calibri"/>
              </a:rPr>
              <a:t>Know 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2976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Understand GDPR, HIPAA, PCI-DSS obligations — compliance = baseline security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79" y="3749039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79" y="3749039"/>
            <a:ext cx="502920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7" y="40233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84047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F54"/>
                </a:solidFill>
                <a:latin typeface="Calibri"/>
              </a:rPr>
              <a:t>Leverage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29767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Cloud providers offer enterprise-grade security at SME-accessible prices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029199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029199"/>
            <a:ext cx="502920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303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5120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F54"/>
                </a:solidFill>
                <a:latin typeface="Calibri"/>
              </a:rPr>
              <a:t>MSSP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5778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Managed Security Service Provider provides 24/7 coverage for limited IT teams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79" y="5029199"/>
            <a:ext cx="557784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5079" y="5029199"/>
            <a:ext cx="502920" cy="1143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7" y="53035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120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1F54"/>
                </a:solidFill>
                <a:latin typeface="Calibri"/>
              </a:rPr>
              <a:t>Review Regularly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57783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  <a:latin typeface="Calibri"/>
              </a:rPr>
              <a:t>Annual risk reviews + reviews after incidents or major technology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01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4572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554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Framework Successfully Developed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20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C8DC"/>
                </a:solidFill>
                <a:latin typeface="Calibri"/>
              </a:rPr>
              <a:t>NIST CSF 2.0 adapted with quantitative risk scoring for SME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77439"/>
            <a:ext cx="4572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688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231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Threats Catalogued &amp; Prioritized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788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C8DC"/>
                </a:solidFill>
                <a:latin typeface="Calibri"/>
              </a:rPr>
              <a:t>Phishing and Ransomware identified as Critical (Score 18–22.5)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4572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Practical Mitigations Proposed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657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C8DC"/>
                </a:solidFill>
                <a:latin typeface="Calibri"/>
              </a:rPr>
              <a:t>MFA, EDR, Security Training, IRP — cost-effective for any SME budget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14800"/>
            <a:ext cx="4572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Validated via Case Studies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526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C8DC"/>
                </a:solidFill>
                <a:latin typeface="Calibri"/>
              </a:rPr>
              <a:t>3 industries: 78% phishing reduction, RTO from 4 days to 6 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83479"/>
            <a:ext cx="457200" cy="6400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7491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02919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  <a:latin typeface="Calibri"/>
              </a:rPr>
              <a:t>8 Best Practices Documented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39495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4C8DC"/>
                </a:solidFill>
                <a:latin typeface="Calibri"/>
              </a:rPr>
              <a:t>Risk-based, actionable guidance for ongoing security posture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6035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6C8DC"/>
                </a:solidFill>
                <a:latin typeface="Calibri"/>
              </a:rPr>
              <a:t>"Cybersecurity is not a one-time project — it is an ongoing commitment."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1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53312"/>
            <a:ext cx="2743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NIST. (2024). Cybersecurity Framework (CSF) 2.0. National Institute of Standards and Technology.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93391"/>
            <a:ext cx="2743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6595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Verizon. (2024). 2024 Data Breach Investigations Report (DBIR). Verizon Enterprise Solutions.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33472"/>
            <a:ext cx="2743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0603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CISA. (2023). Cybersecurity Best Practices for Small Businesses. US Dept. of Homeland Security.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73551"/>
            <a:ext cx="2743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24611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IBM Security. (2024). Cost of a Data Breach Report 2024. IBM Corporation.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13631"/>
            <a:ext cx="2743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88619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ENISA. (2023). Threat Landscape for SMEs. European Union Agency for Cybersecurity.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553712"/>
            <a:ext cx="2743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526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CIS Controls. (2024). CIS Controls v8.1. Center for Internet Security.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93792"/>
            <a:ext cx="2743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16635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SANS Institute. (2023). Security Awareness Planning Kit. SANS Security Awareness.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833871"/>
            <a:ext cx="27432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806439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  <a:latin typeface="Calibri"/>
              </a:rPr>
              <a:t>Microsoft. (2024). Microsoft Security Intelligence Report. Microsoft Corporation.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374151"/>
                </a:solidFill>
                <a:latin typeface="Calibri"/>
              </a:rPr>
              <a:t>Thank You  |  Submitted to: Naviotech Solution Pvt. Ltd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